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1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build/icons/paw-white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9052560" y="1463040"/>
            <a:ext cx="3108960" cy="3108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658368"/>
            <a:ext cx="713232" cy="7132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4" name="Image 1" descr="/tmp/pptbuild/icons/stethoscope-de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07" y="808147"/>
            <a:ext cx="413675" cy="41367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463040" y="8412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本科毕业设计（论文）· 开题答辩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1847088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Spring Boot 的</a:t>
            </a:r>
            <a:endParaRPr lang="en-US" sz="38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宠物医疗管理系统设计与实现</a:t>
            </a:r>
            <a:endParaRPr lang="en-US" sz="38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385876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前后端分离 · 三角色协同 · 诊疗业务闭环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66928" y="5138928"/>
            <a:ext cx="8138160" cy="914400"/>
          </a:xfrm>
          <a:prstGeom prst="roundRect">
            <a:avLst>
              <a:gd name="adj" fmla="val 10000"/>
            </a:avLst>
          </a:prstGeom>
          <a:solidFill>
            <a:srgbClr val="0A4C59"/>
          </a:solidFill>
          <a:ln w="12700">
            <a:solidFill>
              <a:srgbClr val="0A4C5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50976" y="5303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950976" y="5550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2907792" y="5303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学号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2907792" y="5550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（请填写）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864608" y="5303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指导教师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4864608" y="5550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（请填写）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821424" y="5303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汇报日期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6821424" y="5550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10 月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10680192" y="6364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/tmp/pptbuild/icons/lis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94360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35608" y="429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CONTENTS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435608" y="64922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汇报框架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10512"/>
            <a:ext cx="3529584" cy="1664208"/>
          </a:xfrm>
          <a:prstGeom prst="roundRect">
            <a:avLst>
              <a:gd name="adj" fmla="val 4945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072384" y="1938528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41248" y="2084832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1" descr="/tmp/pptbuild/icons/bulb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807" y="2212391"/>
            <a:ext cx="311810" cy="31181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41248" y="2761488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选题背景与意义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841248" y="307238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行业现状 · 存在问题 · 研究价值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334256" y="1810512"/>
            <a:ext cx="3529584" cy="1664208"/>
          </a:xfrm>
          <a:prstGeom prst="roundRect">
            <a:avLst>
              <a:gd name="adj" fmla="val 4945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39712" y="1938528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4608576" y="2084832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2" descr="/tmp/pptbuild/icons/earth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135" y="2212391"/>
            <a:ext cx="311810" cy="31181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08576" y="2761488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国内外研究现状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4608576" y="307238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国外产品 · 国内研究 · 研究切入点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101584" y="1810512"/>
            <a:ext cx="3529584" cy="1664208"/>
          </a:xfrm>
          <a:prstGeom prst="roundRect">
            <a:avLst>
              <a:gd name="adj" fmla="val 4945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0607040" y="1938528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8375904" y="2084832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3" descr="/tmp/pptbuild/icons/layers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463" y="2212391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375904" y="2761488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研究目标与内容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8375904" y="3072384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系统定位 · 六大功能模块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66928" y="3712464"/>
            <a:ext cx="3529584" cy="1664208"/>
          </a:xfrm>
          <a:prstGeom prst="roundRect">
            <a:avLst>
              <a:gd name="adj" fmla="val 4945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3072384" y="384048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Shape 20"/>
          <p:cNvSpPr/>
          <p:nvPr/>
        </p:nvSpPr>
        <p:spPr>
          <a:xfrm>
            <a:off x="841248" y="3986784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7" name="Image 4" descr="/tmp/pptbuild/icons/sitemap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807" y="4114343"/>
            <a:ext cx="311810" cy="31181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41248" y="4663440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系统结构与关键设计</a:t>
            </a:r>
            <a:endParaRPr lang="en-US" sz="1450" dirty="0"/>
          </a:p>
        </p:txBody>
      </p:sp>
      <p:sp>
        <p:nvSpPr>
          <p:cNvPr id="29" name="Text 22"/>
          <p:cNvSpPr txBox="1"/>
          <p:nvPr/>
        </p:nvSpPr>
        <p:spPr>
          <a:xfrm>
            <a:off x="841248" y="4974336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角色权限 · 关键设计考虑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334256" y="3712464"/>
            <a:ext cx="3529584" cy="1664208"/>
          </a:xfrm>
          <a:prstGeom prst="roundRect">
            <a:avLst>
              <a:gd name="adj" fmla="val 4945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6839712" y="384048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3000" dirty="0"/>
          </a:p>
        </p:txBody>
      </p:sp>
      <p:sp>
        <p:nvSpPr>
          <p:cNvPr id="32" name="Shape 25"/>
          <p:cNvSpPr/>
          <p:nvPr/>
        </p:nvSpPr>
        <p:spPr>
          <a:xfrm>
            <a:off x="4608576" y="3986784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3" name="Image 5" descr="/tmp/pptbuild/icons/diagram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135" y="4114343"/>
            <a:ext cx="311810" cy="31181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608576" y="4663440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技术路线与架构</a:t>
            </a:r>
            <a:endParaRPr lang="en-US" sz="1450" dirty="0"/>
          </a:p>
        </p:txBody>
      </p:sp>
      <p:sp>
        <p:nvSpPr>
          <p:cNvPr id="35" name="Text 27"/>
          <p:cNvSpPr txBox="1"/>
          <p:nvPr/>
        </p:nvSpPr>
        <p:spPr>
          <a:xfrm>
            <a:off x="4608576" y="4974336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开发流程 · 分层架构 · 技术选型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8101584" y="3712464"/>
            <a:ext cx="3529584" cy="1664208"/>
          </a:xfrm>
          <a:prstGeom prst="roundRect">
            <a:avLst>
              <a:gd name="adj" fmla="val 4945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10607040" y="384048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3000" dirty="0"/>
          </a:p>
        </p:txBody>
      </p:sp>
      <p:sp>
        <p:nvSpPr>
          <p:cNvPr id="38" name="Shape 30"/>
          <p:cNvSpPr/>
          <p:nvPr/>
        </p:nvSpPr>
        <p:spPr>
          <a:xfrm>
            <a:off x="8375904" y="3986784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9" name="Image 6" descr="/tmp/pptbuild/icons/calendar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463" y="4114343"/>
            <a:ext cx="311810" cy="31181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8375904" y="4663440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可行性与进度安排</a:t>
            </a:r>
            <a:endParaRPr lang="en-US" sz="1450" dirty="0"/>
          </a:p>
        </p:txBody>
      </p:sp>
      <p:sp>
        <p:nvSpPr>
          <p:cNvPr id="41" name="Text 32"/>
          <p:cNvSpPr txBox="1"/>
          <p:nvPr/>
        </p:nvSpPr>
        <p:spPr>
          <a:xfrm>
            <a:off x="8375904" y="4974336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可行性 · 时间节点 · 预期成果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Spring Boot 的宠物医疗管理系统设计与实现</a:t>
            </a:r>
            <a:endParaRPr lang="en-US" sz="850" dirty="0"/>
          </a:p>
        </p:txBody>
      </p:sp>
      <p:sp>
        <p:nvSpPr>
          <p:cNvPr id="43" name="Text 34"/>
          <p:cNvSpPr txBox="1"/>
          <p:nvPr/>
        </p:nvSpPr>
        <p:spPr>
          <a:xfrm>
            <a:off x="10680192" y="6364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/tmp/pptbuild/icons/paw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94360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35608" y="429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01 · 选题背景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435608" y="64922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宠物诊疗行业快速发展，管理方式却相对滞后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83080"/>
            <a:ext cx="6675120" cy="4206240"/>
          </a:xfrm>
          <a:prstGeom prst="roundRect">
            <a:avLst>
              <a:gd name="adj" fmla="val 1957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" y="1975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行业背景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7824" y="2432304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1" descr="/tmp/pptbuild/icons/paw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038" y="2547518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36192" y="24140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饲养规模扩大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536192" y="2688336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城镇家庭饲养犬猫数量持续增长，宠物由功能性角色转变为重要家庭成员。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77824" y="3291840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2" descr="/tmp/pptbuild/icons/hospital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38" y="3407054"/>
            <a:ext cx="281635" cy="28163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36192" y="32735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诊疗机构增多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1536192" y="3547872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宠物医院、诊所数量与规模扩大，服务延伸到预防保健、化验、影像与手术。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77824" y="4151376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7" name="Image 3" descr="/tmp/pptbuild/icons/clo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038" y="4266590"/>
            <a:ext cx="281635" cy="28163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36192" y="41330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就诊频次上升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1536192" y="4407408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疫苗接种、体检、复诊等周期性就诊增多，健康记录连续性要求提高。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877824" y="5010912"/>
            <a:ext cx="512064" cy="51206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4" descr="/tmp/pptbuild/icons/clipboard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038" y="5126126"/>
            <a:ext cx="281635" cy="28163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36192" y="49926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管理仍靠人工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1536192" y="5266944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不少中小机构仍依赖纸质台账、Excel 或单机软件，效率与准确性受限。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7516368" y="1783080"/>
            <a:ext cx="4078224" cy="4206240"/>
          </a:xfrm>
          <a:prstGeom prst="roundRect">
            <a:avLst>
              <a:gd name="adj" fmla="val 2018"/>
            </a:avLst>
          </a:prstGeom>
          <a:solidFill>
            <a:srgbClr val="06414E"/>
          </a:solidFill>
          <a:ln w="12700">
            <a:solidFill>
              <a:srgbClr val="06414E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827264" y="2011680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6" name="Image 5" descr="/tmp/pptbuild/icons/warning-dee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0708" y="2135124"/>
            <a:ext cx="301752" cy="30175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503920" y="21214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传统管理方式的痛点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7827264" y="2743200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7827264" y="27477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414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850" dirty="0"/>
          </a:p>
        </p:txBody>
      </p:sp>
      <p:sp>
        <p:nvSpPr>
          <p:cNvPr id="30" name="Text 22"/>
          <p:cNvSpPr txBox="1"/>
          <p:nvPr/>
        </p:nvSpPr>
        <p:spPr>
          <a:xfrm>
            <a:off x="8275320" y="2734056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健康档案分散，病历难以纵向追溯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7827264" y="3364992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7827264" y="33695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414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85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3355848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预约排班靠人工，就诊高峰期排队久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827264" y="3986784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7827264" y="39913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414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850" dirty="0"/>
          </a:p>
        </p:txBody>
      </p:sp>
      <p:sp>
        <p:nvSpPr>
          <p:cNvPr id="36" name="Text 28"/>
          <p:cNvSpPr txBox="1"/>
          <p:nvPr/>
        </p:nvSpPr>
        <p:spPr>
          <a:xfrm>
            <a:off x="8275320" y="397764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药品库存粗放，易短缺或过期损耗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7827264" y="4608576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7827264" y="46131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414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850" dirty="0"/>
          </a:p>
        </p:txBody>
      </p:sp>
      <p:sp>
        <p:nvSpPr>
          <p:cNvPr id="39" name="Text 31"/>
          <p:cNvSpPr txBox="1"/>
          <p:nvPr/>
        </p:nvSpPr>
        <p:spPr>
          <a:xfrm>
            <a:off x="8275320" y="4599432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收费与服务记录不规范，统计困难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7827264" y="5230368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7827264" y="5234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414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850" dirty="0"/>
          </a:p>
        </p:txBody>
      </p:sp>
      <p:sp>
        <p:nvSpPr>
          <p:cNvPr id="42" name="Text 34"/>
          <p:cNvSpPr txBox="1"/>
          <p:nvPr/>
        </p:nvSpPr>
        <p:spPr>
          <a:xfrm>
            <a:off x="8275320" y="5221224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主人获取诊疗信息不便，信息不对称</a:t>
            </a:r>
            <a:endParaRPr lang="en-US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Spring Boot 的宠物医疗管理系统设计与实现</a:t>
            </a:r>
            <a:endParaRPr lang="en-US" sz="850" dirty="0"/>
          </a:p>
        </p:txBody>
      </p:sp>
      <p:sp>
        <p:nvSpPr>
          <p:cNvPr id="44" name="Text 36"/>
          <p:cNvSpPr txBox="1"/>
          <p:nvPr/>
        </p:nvSpPr>
        <p:spPr>
          <a:xfrm>
            <a:off x="10680192" y="6364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/tmp/pptbuild/icons/bulb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94360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35608" y="429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01 · 研究意义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435608" y="64922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把软件工程方法落到宠物医疗这一细分领域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83080"/>
            <a:ext cx="5431536" cy="4206240"/>
          </a:xfrm>
          <a:prstGeom prst="roundRect">
            <a:avLst>
              <a:gd name="adj" fmla="val 1957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6112" y="2029968"/>
            <a:ext cx="621792" cy="6217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1" descr="/tmp/pptbuild/icons/search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" y="2169871"/>
            <a:ext cx="341986" cy="3419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1579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理论意义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932688" y="3017520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32688" y="30220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408176" y="2999232"/>
            <a:ext cx="43159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将需求分析、系统设计与测试方法应用于垂直行业信息化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932688" y="3858768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32688" y="38633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408176" y="3840480"/>
            <a:ext cx="43159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对宠物医疗业务流程进行抽象与建模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32688" y="4700016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32688" y="47045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408176" y="4681728"/>
            <a:ext cx="43159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探讨通用技术框架下如何兼顾行业特殊性与工程规范性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63056" y="1783080"/>
            <a:ext cx="5431536" cy="4206240"/>
          </a:xfrm>
          <a:prstGeom prst="roundRect">
            <a:avLst>
              <a:gd name="adj" fmla="val 1957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92240" y="2029968"/>
            <a:ext cx="621792" cy="6217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2" descr="/tmp/pptbuild/icons/han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143" y="2169871"/>
            <a:ext cx="341986" cy="34198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242048" y="21579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实践意义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528816" y="3017520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528816" y="30220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7004304" y="2999232"/>
            <a:ext cx="43159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为中小型宠物医院提供低成本、易部署的信息化方案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528816" y="3858768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528816" y="38633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7004304" y="3840480"/>
            <a:ext cx="43159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规范业务流程，提升接诊效率、减少人为差错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528816" y="4700016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528816" y="47045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7004304" y="4681728"/>
            <a:ext cx="43159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增强主人参与度，改善就医体验与健康管理连续性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Spring Boot 的宠物医疗管理系统设计与实现</a:t>
            </a:r>
            <a:endParaRPr lang="en-US" sz="850" dirty="0"/>
          </a:p>
        </p:txBody>
      </p:sp>
      <p:sp>
        <p:nvSpPr>
          <p:cNvPr id="33" name="Text 28"/>
          <p:cNvSpPr txBox="1"/>
          <p:nvPr/>
        </p:nvSpPr>
        <p:spPr>
          <a:xfrm>
            <a:off x="10680192" y="6364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/tmp/pptbuild/icons/eart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94360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35608" y="429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02 · 研究现状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435608" y="64922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国外产品成熟，国内研究多聚焦功能实现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83080"/>
            <a:ext cx="5431536" cy="4206240"/>
          </a:xfrm>
          <a:prstGeom prst="roundRect">
            <a:avLst>
              <a:gd name="adj" fmla="val 1957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6112" y="201168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1" descr="/tmp/pptbuild/icons/hospital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71" y="2139239"/>
            <a:ext cx="311810" cy="31181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91056" y="21214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国外现状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969264" y="2935224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261872" y="2788920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行业起步早，信息化程度较高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969264" y="3557016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261872" y="3410712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ezyVet、AVImark、Cornerstone 等 PIMS 系统普及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69264" y="4178808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261872" y="4032504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集电子病历、预约排程、影像化验、保险对接于一体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969264" y="4800600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261872" y="4654296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向云端 SaaS 化发展，重视机构间数据互通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969264" y="5422392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261872" y="5276088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已建立相对成熟的兽医诊疗数据标准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163056" y="1783080"/>
            <a:ext cx="5431536" cy="4206240"/>
          </a:xfrm>
          <a:prstGeom prst="roundRect">
            <a:avLst>
              <a:gd name="adj" fmla="val 1957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92240" y="201168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2" name="Image 2" descr="/tmp/pptbuild/icons/char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799" y="2139239"/>
            <a:ext cx="311810" cy="31181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187184" y="21214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国内现状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6565392" y="2935224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858000" y="2788920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行业增长快，信息化需求旺盛但起步较晚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565392" y="3557016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858000" y="3410712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出现面向宠物医院的 SaaS 管理产品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565392" y="4178808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858000" y="4032504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学术研究多为 SSM / Spring Boot + MySQL 实现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6565392" y="4800600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858000" y="4654296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研究侧重功能落地，偏重医院内部管理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565392" y="5422392"/>
            <a:ext cx="118872" cy="1188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858000" y="5276088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面向宠物主人端的服务支持相对薄弱</a:t>
            </a:r>
            <a:endParaRPr lang="en-US" sz="1150" dirty="0"/>
          </a:p>
        </p:txBody>
      </p:sp>
      <p:sp>
        <p:nvSpPr>
          <p:cNvPr id="34" name="Text 29"/>
          <p:cNvSpPr txBox="1"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Spring Boot 的宠物医疗管理系统设计与实现</a:t>
            </a:r>
            <a:endParaRPr lang="en-US" sz="850" dirty="0"/>
          </a:p>
        </p:txBody>
      </p:sp>
      <p:sp>
        <p:nvSpPr>
          <p:cNvPr id="35" name="Text 30"/>
          <p:cNvSpPr txBox="1"/>
          <p:nvPr/>
        </p:nvSpPr>
        <p:spPr>
          <a:xfrm>
            <a:off x="10680192" y="6364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/tmp/pptbuild/icons/sear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94360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35608" y="429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02 · 研究切入点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435608" y="64922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现有研究与产品仍存在的不足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28800"/>
            <a:ext cx="5431536" cy="1883664"/>
          </a:xfrm>
          <a:prstGeom prst="roundRect">
            <a:avLst>
              <a:gd name="adj" fmla="val 4369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992624" y="1938528"/>
            <a:ext cx="859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896112" y="2157984"/>
            <a:ext cx="621792" cy="6217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1" descr="/tmp/pptbuild/icons/usershiel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" y="2297887"/>
            <a:ext cx="341986" cy="34198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82496" y="2212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主人端薄弱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932688" y="2944368"/>
            <a:ext cx="4700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多聚焦医院内部管理，宠物主人参与度低，缺少自助查询与预约入口。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729984" y="1828800"/>
            <a:ext cx="5431536" cy="1883664"/>
          </a:xfrm>
          <a:prstGeom prst="roundRect">
            <a:avLst>
              <a:gd name="adj" fmla="val 4369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1155680" y="1938528"/>
            <a:ext cx="859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Shape 10"/>
          <p:cNvSpPr/>
          <p:nvPr/>
        </p:nvSpPr>
        <p:spPr>
          <a:xfrm>
            <a:off x="7059168" y="2157984"/>
            <a:ext cx="621792" cy="6217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2" descr="/tmp/pptbuild/icons/note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071" y="2297887"/>
            <a:ext cx="341986" cy="34198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845552" y="2212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档案难连续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095744" y="2944368"/>
            <a:ext cx="4700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电子健康档案的连续性与标准化不足，跨机构难以共享与追溯。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66928" y="4005072"/>
            <a:ext cx="5431536" cy="1883664"/>
          </a:xfrm>
          <a:prstGeom prst="roundRect">
            <a:avLst>
              <a:gd name="adj" fmla="val 4369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992624" y="4114800"/>
            <a:ext cx="859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Shape 15"/>
          <p:cNvSpPr/>
          <p:nvPr/>
        </p:nvSpPr>
        <p:spPr>
          <a:xfrm>
            <a:off x="896112" y="4334256"/>
            <a:ext cx="621792" cy="6217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3" descr="/tmp/pptbuild/icons/shiel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" y="4474159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82496" y="4389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安全考虑不足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32688" y="5120640"/>
            <a:ext cx="4700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权限控制、数据安全与隐私保护在设计层面考虑不够充分。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729984" y="4005072"/>
            <a:ext cx="5431536" cy="1883664"/>
          </a:xfrm>
          <a:prstGeom prst="roundRect">
            <a:avLst>
              <a:gd name="adj" fmla="val 4369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11155680" y="4114800"/>
            <a:ext cx="859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200" dirty="0"/>
          </a:p>
        </p:txBody>
      </p:sp>
      <p:sp>
        <p:nvSpPr>
          <p:cNvPr id="26" name="Shape 20"/>
          <p:cNvSpPr/>
          <p:nvPr/>
        </p:nvSpPr>
        <p:spPr>
          <a:xfrm>
            <a:off x="7059168" y="4334256"/>
            <a:ext cx="621792" cy="6217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7" name="Image 4" descr="/tmp/pptbuild/icons/cod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9071" y="4474159"/>
            <a:ext cx="341986" cy="34198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845552" y="4389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工程质量不均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7095744" y="5120640"/>
            <a:ext cx="4700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部分研究偏重功能堆砌，对分层架构、可测试性与可维护性论证不足。</a:t>
            </a:r>
            <a:endParaRPr lang="en-US" sz="1150" dirty="0"/>
          </a:p>
        </p:txBody>
      </p:sp>
      <p:sp>
        <p:nvSpPr>
          <p:cNvPr id="30" name="Text 23"/>
          <p:cNvSpPr txBox="1"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Spring Boot 的宠物医疗管理系统设计与实现</a:t>
            </a:r>
            <a:endParaRPr lang="en-US" sz="850" dirty="0"/>
          </a:p>
        </p:txBody>
      </p:sp>
      <p:sp>
        <p:nvSpPr>
          <p:cNvPr id="31" name="Text 24"/>
          <p:cNvSpPr txBox="1"/>
          <p:nvPr/>
        </p:nvSpPr>
        <p:spPr>
          <a:xfrm>
            <a:off x="10680192" y="6364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/tmp/pptbuild/icons/lay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94360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35608" y="429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03 · 研究内容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435608" y="64922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聚焦核心业务闭环的六大功能模块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55648"/>
            <a:ext cx="11027664" cy="603504"/>
          </a:xfrm>
          <a:prstGeom prst="roundRect">
            <a:avLst>
              <a:gd name="adj" fmla="val 15152"/>
            </a:avLst>
          </a:prstGeom>
          <a:solidFill>
            <a:srgbClr val="06414E"/>
          </a:solidFill>
          <a:ln w="12700">
            <a:solidFill>
              <a:srgbClr val="06414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" y="188366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系统定位：宠物档案 → 预约挂号 → 接诊诊疗 → 处方用药 → 药品库存 → 收费统计，全流程线上化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2578608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4672" y="2852928"/>
            <a:ext cx="603504" cy="6035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" y="28575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852928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用户与权限管理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1554480" y="321868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注册登录 · RBAC 权限控制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04672" y="3602736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M1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34256" y="2578608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2852928"/>
            <a:ext cx="603504" cy="6035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0" y="28575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650" dirty="0"/>
          </a:p>
        </p:txBody>
      </p:sp>
      <p:sp>
        <p:nvSpPr>
          <p:cNvPr id="17" name="Text 14"/>
          <p:cNvSpPr txBox="1"/>
          <p:nvPr/>
        </p:nvSpPr>
        <p:spPr>
          <a:xfrm>
            <a:off x="5321808" y="2852928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宠物档案管理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5321808" y="321868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宠物档案 · 健康与就诊记录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3602736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M2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101584" y="2578608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39328" y="2852928"/>
            <a:ext cx="603504" cy="6035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39328" y="28575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650" dirty="0"/>
          </a:p>
        </p:txBody>
      </p:sp>
      <p:sp>
        <p:nvSpPr>
          <p:cNvPr id="23" name="Text 20"/>
          <p:cNvSpPr txBox="1"/>
          <p:nvPr/>
        </p:nvSpPr>
        <p:spPr>
          <a:xfrm>
            <a:off x="9089136" y="2852928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预约挂号管理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9089136" y="321868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在线预约 · 确认驳回 · 排班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339328" y="3602736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M3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66928" y="4279392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4672" y="4553712"/>
            <a:ext cx="603504" cy="6035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4672" y="45582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650" dirty="0"/>
          </a:p>
        </p:txBody>
      </p:sp>
      <p:sp>
        <p:nvSpPr>
          <p:cNvPr id="29" name="Text 26"/>
          <p:cNvSpPr txBox="1"/>
          <p:nvPr/>
        </p:nvSpPr>
        <p:spPr>
          <a:xfrm>
            <a:off x="1554480" y="455371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诊疗与电子病历</a:t>
            </a:r>
            <a:endParaRPr lang="en-US" sz="1450" dirty="0"/>
          </a:p>
        </p:txBody>
      </p:sp>
      <p:sp>
        <p:nvSpPr>
          <p:cNvPr id="30" name="Text 27"/>
          <p:cNvSpPr txBox="1"/>
          <p:nvPr/>
        </p:nvSpPr>
        <p:spPr>
          <a:xfrm>
            <a:off x="1554480" y="4919472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接诊病历 · 开具处方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04672" y="530352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M4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334256" y="4279392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72000" y="4553712"/>
            <a:ext cx="603504" cy="6035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572000" y="45582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650" dirty="0"/>
          </a:p>
        </p:txBody>
      </p:sp>
      <p:sp>
        <p:nvSpPr>
          <p:cNvPr id="35" name="Text 32"/>
          <p:cNvSpPr txBox="1"/>
          <p:nvPr/>
        </p:nvSpPr>
        <p:spPr>
          <a:xfrm>
            <a:off x="5321808" y="455371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药品与库存管理</a:t>
            </a:r>
            <a:endParaRPr lang="en-US" sz="1450" dirty="0"/>
          </a:p>
        </p:txBody>
      </p:sp>
      <p:sp>
        <p:nvSpPr>
          <p:cNvPr id="36" name="Text 33"/>
          <p:cNvSpPr txBox="1"/>
          <p:nvPr/>
        </p:nvSpPr>
        <p:spPr>
          <a:xfrm>
            <a:off x="5321808" y="4919472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药品维护 · 出入库 · 预警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4572000" y="530352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M5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8101584" y="4279392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339328" y="4553712"/>
            <a:ext cx="603504" cy="6035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39328" y="45582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650" dirty="0"/>
          </a:p>
        </p:txBody>
      </p:sp>
      <p:sp>
        <p:nvSpPr>
          <p:cNvPr id="41" name="Text 38"/>
          <p:cNvSpPr txBox="1"/>
          <p:nvPr/>
        </p:nvSpPr>
        <p:spPr>
          <a:xfrm>
            <a:off x="9089136" y="455371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收费与统计管理</a:t>
            </a:r>
            <a:endParaRPr lang="en-US" sz="1450" dirty="0"/>
          </a:p>
        </p:txBody>
      </p:sp>
      <p:sp>
        <p:nvSpPr>
          <p:cNvPr id="42" name="Text 39"/>
          <p:cNvSpPr txBox="1"/>
          <p:nvPr/>
        </p:nvSpPr>
        <p:spPr>
          <a:xfrm>
            <a:off x="9089136" y="4919472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计价结算 · 收入统计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8339328" y="530352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M6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77900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＊ 为使研究聚焦核心闭环，公告资讯、报表导出、短信推送等非核心功能不在本课题范围内。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Spring Boot 的宠物医疗管理系统设计与实现</a:t>
            </a:r>
            <a:endParaRPr lang="en-US" sz="850" dirty="0"/>
          </a:p>
        </p:txBody>
      </p:sp>
      <p:sp>
        <p:nvSpPr>
          <p:cNvPr id="46" name="Text 43"/>
          <p:cNvSpPr txBox="1"/>
          <p:nvPr/>
        </p:nvSpPr>
        <p:spPr>
          <a:xfrm>
            <a:off x="10680192" y="6364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/tmp/pptbuild/icons/sitemap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94360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35608" y="429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04 · 功能结构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435608" y="64922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三类角色，职责清晰、权限隔离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83080"/>
            <a:ext cx="3529584" cy="4206240"/>
          </a:xfrm>
          <a:prstGeom prst="roundRect">
            <a:avLst>
              <a:gd name="adj" fmla="val 2332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783080"/>
            <a:ext cx="3529584" cy="932688"/>
          </a:xfrm>
          <a:prstGeom prst="roundRect">
            <a:avLst>
              <a:gd name="adj" fmla="val 8824"/>
            </a:avLst>
          </a:prstGeom>
          <a:solidFill>
            <a:srgbClr val="06414E"/>
          </a:solidFill>
          <a:ln w="12700">
            <a:solidFill>
              <a:srgbClr val="06414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1248" y="1956816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/tmp/pptbuild/icons/usershield-de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22" y="2088490"/>
            <a:ext cx="321869" cy="32186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36192" y="1956816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管理员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536192" y="228600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系统与业务数据维护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96112" y="304495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152144" y="292608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用户与权限管理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96112" y="352044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152144" y="3401568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科室与排班维护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96112" y="399592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152144" y="3877056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药品与库存管理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96112" y="4471416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152144" y="435254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服务项目与价格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96112" y="494690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152144" y="4828032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收费与结算管理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96112" y="542239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152144" y="530352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收入统计查看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334256" y="1783080"/>
            <a:ext cx="3529584" cy="4206240"/>
          </a:xfrm>
          <a:prstGeom prst="roundRect">
            <a:avLst>
              <a:gd name="adj" fmla="val 2332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334256" y="1783080"/>
            <a:ext cx="3529584" cy="932688"/>
          </a:xfrm>
          <a:prstGeom prst="roundRect">
            <a:avLst>
              <a:gd name="adj" fmla="val 882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608576" y="1956816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2" descr="/tmp/pptbuild/icons/userdoctor-dee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250" y="2088490"/>
            <a:ext cx="321869" cy="321869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303520" y="1956816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医生</a:t>
            </a:r>
            <a:endParaRPr lang="en-US" sz="1700" dirty="0"/>
          </a:p>
        </p:txBody>
      </p:sp>
      <p:sp>
        <p:nvSpPr>
          <p:cNvPr id="29" name="Text 24"/>
          <p:cNvSpPr txBox="1"/>
          <p:nvPr/>
        </p:nvSpPr>
        <p:spPr>
          <a:xfrm>
            <a:off x="5303520" y="228600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诊疗业务执行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663440" y="304495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919472" y="292608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查看与确认预约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4663440" y="352044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4919472" y="3401568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维护可预约时段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4663440" y="399592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4919472" y="3877056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接诊与录入病历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4663440" y="4471416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4919472" y="435254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开具处方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4663440" y="494690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4919472" y="4828032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处方库存校验</a:t>
            </a:r>
            <a:endParaRPr lang="en-US" sz="1150" dirty="0"/>
          </a:p>
        </p:txBody>
      </p:sp>
      <p:sp>
        <p:nvSpPr>
          <p:cNvPr id="40" name="Shape 35"/>
          <p:cNvSpPr/>
          <p:nvPr/>
        </p:nvSpPr>
        <p:spPr>
          <a:xfrm>
            <a:off x="4663440" y="542239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4919472" y="530352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查看宠物历史病历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8101584" y="1783080"/>
            <a:ext cx="3529584" cy="4206240"/>
          </a:xfrm>
          <a:prstGeom prst="roundRect">
            <a:avLst>
              <a:gd name="adj" fmla="val 2332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8101584" y="1783080"/>
            <a:ext cx="3529584" cy="932688"/>
          </a:xfrm>
          <a:prstGeom prst="roundRect">
            <a:avLst>
              <a:gd name="adj" fmla="val 8824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8375904" y="1956816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5" name="Image 3" descr="/tmp/pptbuild/icons/user-dee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7578" y="2088490"/>
            <a:ext cx="321869" cy="321869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9070848" y="1956816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宠物主人</a:t>
            </a:r>
            <a:endParaRPr lang="en-US" sz="1700" dirty="0"/>
          </a:p>
        </p:txBody>
      </p:sp>
      <p:sp>
        <p:nvSpPr>
          <p:cNvPr id="47" name="Text 41"/>
          <p:cNvSpPr txBox="1"/>
          <p:nvPr/>
        </p:nvSpPr>
        <p:spPr>
          <a:xfrm>
            <a:off x="9070848" y="228600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自助服务与查询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8430768" y="304495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8686800" y="292608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维护宠物档案</a:t>
            </a:r>
            <a:endParaRPr lang="en-US" sz="1150" dirty="0"/>
          </a:p>
        </p:txBody>
      </p:sp>
      <p:sp>
        <p:nvSpPr>
          <p:cNvPr id="50" name="Shape 44"/>
          <p:cNvSpPr/>
          <p:nvPr/>
        </p:nvSpPr>
        <p:spPr>
          <a:xfrm>
            <a:off x="8430768" y="352044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8686800" y="3401568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在线预约挂号</a:t>
            </a:r>
            <a:endParaRPr lang="en-US" sz="1150" dirty="0"/>
          </a:p>
        </p:txBody>
      </p:sp>
      <p:sp>
        <p:nvSpPr>
          <p:cNvPr id="52" name="Shape 46"/>
          <p:cNvSpPr/>
          <p:nvPr/>
        </p:nvSpPr>
        <p:spPr>
          <a:xfrm>
            <a:off x="8430768" y="399592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8686800" y="3877056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查看/取消预约</a:t>
            </a:r>
            <a:endParaRPr lang="en-US" sz="1150" dirty="0"/>
          </a:p>
        </p:txBody>
      </p:sp>
      <p:sp>
        <p:nvSpPr>
          <p:cNvPr id="54" name="Shape 48"/>
          <p:cNvSpPr/>
          <p:nvPr/>
        </p:nvSpPr>
        <p:spPr>
          <a:xfrm>
            <a:off x="8430768" y="4471416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8686800" y="435254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查看病历与处方</a:t>
            </a:r>
            <a:endParaRPr lang="en-US" sz="1150" dirty="0"/>
          </a:p>
        </p:txBody>
      </p:sp>
      <p:sp>
        <p:nvSpPr>
          <p:cNvPr id="56" name="Shape 50"/>
          <p:cNvSpPr/>
          <p:nvPr/>
        </p:nvSpPr>
        <p:spPr>
          <a:xfrm>
            <a:off x="8430768" y="494690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8686800" y="4828032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查看收费记录</a:t>
            </a:r>
            <a:endParaRPr lang="en-US" sz="1150" dirty="0"/>
          </a:p>
        </p:txBody>
      </p:sp>
      <p:sp>
        <p:nvSpPr>
          <p:cNvPr id="58" name="Shape 52"/>
          <p:cNvSpPr/>
          <p:nvPr/>
        </p:nvSpPr>
        <p:spPr>
          <a:xfrm>
            <a:off x="8430768" y="542239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9" name="Text 53"/>
          <p:cNvSpPr txBox="1"/>
          <p:nvPr/>
        </p:nvSpPr>
        <p:spPr>
          <a:xfrm>
            <a:off x="8686800" y="530352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维护个人信息</a:t>
            </a:r>
            <a:endParaRPr lang="en-US" sz="1150" dirty="0"/>
          </a:p>
        </p:txBody>
      </p:sp>
      <p:sp>
        <p:nvSpPr>
          <p:cNvPr id="60" name="Text 54"/>
          <p:cNvSpPr txBox="1"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Spring Boot 的宠物医疗管理系统设计与实现</a:t>
            </a:r>
            <a:endParaRPr lang="en-US" sz="850" dirty="0"/>
          </a:p>
        </p:txBody>
      </p:sp>
      <p:sp>
        <p:nvSpPr>
          <p:cNvPr id="61" name="Text 55"/>
          <p:cNvSpPr txBox="1"/>
          <p:nvPr/>
        </p:nvSpPr>
        <p:spPr>
          <a:xfrm>
            <a:off x="10680192" y="6364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/tmp/pptbuild/icons/shiel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94360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35608" y="429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04 · 关键设计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435608" y="64922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四个需要在设计阶段就定下来的问题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28800"/>
            <a:ext cx="5431536" cy="1883664"/>
          </a:xfrm>
          <a:prstGeom prst="roundRect">
            <a:avLst>
              <a:gd name="adj" fmla="val 4369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6112" y="2212848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1" descr="/tmp/pptbuild/icons/usershiel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5" y="2360981"/>
            <a:ext cx="362102" cy="3621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19072" y="22860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权限隔离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932688" y="2962656"/>
            <a:ext cx="4700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RBAC 控制角色权限；后端在 Service 层强制附加“当前登录用户”过滤条件，不依赖前端传参，防止越权访问他人宠物数据。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729984" y="1828800"/>
            <a:ext cx="5431536" cy="1883664"/>
          </a:xfrm>
          <a:prstGeom prst="roundRect">
            <a:avLst>
              <a:gd name="adj" fmla="val 4369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059168" y="2212848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2" descr="/tmp/pptbuild/icons/calendar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301" y="2360981"/>
            <a:ext cx="362102" cy="3621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882128" y="22860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预约防超订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7095744" y="2962656"/>
            <a:ext cx="4700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对“医生＋时段”建立唯一约束，扣减号源时使用乐观锁版本号，在事务内校验余量，避免同一时段被重复预约。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66928" y="4005072"/>
            <a:ext cx="5431536" cy="1883664"/>
          </a:xfrm>
          <a:prstGeom prst="roundRect">
            <a:avLst>
              <a:gd name="adj" fmla="val 4369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96112" y="4389120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8" name="Image 3" descr="/tmp/pptbuild/icons/databas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245" y="4537253"/>
            <a:ext cx="362102" cy="3621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719072" y="44622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库存事务一致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932688" y="5138928"/>
            <a:ext cx="4700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生成处方与扣减库存放在同一数据库事务中，任一步失败整体回滚；库存数量设置不允许为负的约束作为兜底。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729984" y="4005072"/>
            <a:ext cx="5431536" cy="1883664"/>
          </a:xfrm>
          <a:prstGeom prst="roundRect">
            <a:avLst>
              <a:gd name="adj" fmla="val 4369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059168" y="4389120"/>
            <a:ext cx="658368" cy="6583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3" name="Image 4" descr="/tmp/pptbuild/icons/coins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7301" y="4537253"/>
            <a:ext cx="362102" cy="36210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882128" y="44622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金额精度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7095744" y="5138928"/>
            <a:ext cx="4700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金额统一以“分”为单位存储（整型），避免浮点数运算误差；展示时再转换为两位小数。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Spring Boot 的宠物医疗管理系统设计与实现</a:t>
            </a:r>
            <a:endParaRPr lang="en-US" sz="850" dirty="0"/>
          </a:p>
        </p:txBody>
      </p:sp>
      <p:sp>
        <p:nvSpPr>
          <p:cNvPr id="27" name="Text 20"/>
          <p:cNvSpPr txBox="1"/>
          <p:nvPr/>
        </p:nvSpPr>
        <p:spPr>
          <a:xfrm>
            <a:off x="10680192" y="6364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/tmp/pptbuild/icons/diagra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94360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35608" y="429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05 · 技术路线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435608" y="64922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按迭代路线推进，每阶段有验证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2514600"/>
            <a:ext cx="1920240" cy="2103120"/>
          </a:xfrm>
          <a:prstGeom prst="roundRect">
            <a:avLst>
              <a:gd name="adj" fmla="val 4286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277063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07008" y="27752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75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357530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需求分析与建模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41239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调研业务流程，确定功能与非功能需求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532888" y="3483864"/>
            <a:ext cx="265176" cy="164592"/>
          </a:xfrm>
          <a:prstGeom prst="right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43784" y="2514600"/>
            <a:ext cx="1920240" cy="2103120"/>
          </a:xfrm>
          <a:prstGeom prst="roundRect">
            <a:avLst>
              <a:gd name="adj" fmla="val 4286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83864" y="277063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83864" y="27752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750" dirty="0"/>
          </a:p>
        </p:txBody>
      </p:sp>
      <p:sp>
        <p:nvSpPr>
          <p:cNvPr id="15" name="Text 12"/>
          <p:cNvSpPr txBox="1"/>
          <p:nvPr/>
        </p:nvSpPr>
        <p:spPr>
          <a:xfrm>
            <a:off x="2990088" y="357530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系统与数据库设计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2990088" y="41239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分层架构、E-R 图、数据字典、接口设计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809744" y="3483864"/>
            <a:ext cx="265176" cy="164592"/>
          </a:xfrm>
          <a:prstGeom prst="right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20640" y="2514600"/>
            <a:ext cx="1920240" cy="2103120"/>
          </a:xfrm>
          <a:prstGeom prst="roundRect">
            <a:avLst>
              <a:gd name="adj" fmla="val 4286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60720" y="277063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760720" y="27752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750" dirty="0"/>
          </a:p>
        </p:txBody>
      </p:sp>
      <p:sp>
        <p:nvSpPr>
          <p:cNvPr id="21" name="Text 18"/>
          <p:cNvSpPr txBox="1"/>
          <p:nvPr/>
        </p:nvSpPr>
        <p:spPr>
          <a:xfrm>
            <a:off x="5266944" y="357530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分层编码与迭代开发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266944" y="41239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按模块开发，Controller–Service–Mapper 分层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7086600" y="3483864"/>
            <a:ext cx="265176" cy="164592"/>
          </a:xfrm>
          <a:prstGeom prst="right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97496" y="2514600"/>
            <a:ext cx="1920240" cy="2103120"/>
          </a:xfrm>
          <a:prstGeom prst="roundRect">
            <a:avLst>
              <a:gd name="adj" fmla="val 4286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37576" y="277063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037576" y="27752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750" dirty="0"/>
          </a:p>
        </p:txBody>
      </p:sp>
      <p:sp>
        <p:nvSpPr>
          <p:cNvPr id="27" name="Text 24"/>
          <p:cNvSpPr txBox="1"/>
          <p:nvPr/>
        </p:nvSpPr>
        <p:spPr>
          <a:xfrm>
            <a:off x="7543800" y="357530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测试与性能优化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7543800" y="41239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单元测试、接口测试、功能测试与优化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9363456" y="3483864"/>
            <a:ext cx="265176" cy="164592"/>
          </a:xfrm>
          <a:prstGeom prst="right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674352" y="2514600"/>
            <a:ext cx="1920240" cy="2103120"/>
          </a:xfrm>
          <a:prstGeom prst="roundRect">
            <a:avLst>
              <a:gd name="adj" fmla="val 4286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314432" y="277063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314432" y="27752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750" dirty="0"/>
          </a:p>
        </p:txBody>
      </p:sp>
      <p:sp>
        <p:nvSpPr>
          <p:cNvPr id="33" name="Text 30"/>
          <p:cNvSpPr txBox="1"/>
          <p:nvPr/>
        </p:nvSpPr>
        <p:spPr>
          <a:xfrm>
            <a:off x="9820656" y="357530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部署上线与验证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9820656" y="4123944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Nginx + Jar 部署，整体验收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566928" y="502920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瀑布模型与迭代开发相结合：先完成总体需求与架构设计，再按模块分阶段迭代、逐步集成。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Spring Boot 的宠物医疗管理系统设计与实现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10680192" y="6364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/tmp/pptbuild/icons/lay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94360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35608" y="429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05 · 系统架构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435608" y="64922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前后端分离的四层架构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2240280"/>
            <a:ext cx="11027664" cy="786384"/>
          </a:xfrm>
          <a:prstGeom prst="roundRect">
            <a:avLst>
              <a:gd name="adj" fmla="val 10465"/>
            </a:avLst>
          </a:prstGeom>
          <a:solidFill>
            <a:srgbClr val="046A75"/>
          </a:solidFill>
          <a:ln w="12700">
            <a:solidFill>
              <a:srgbClr val="046A7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" y="24597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表现层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852928" y="24963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 + Element Plus + Vite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607808" y="24963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用户界面与交互，单页应用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66928" y="3154680"/>
            <a:ext cx="11027664" cy="786384"/>
          </a:xfrm>
          <a:prstGeom prst="roundRect">
            <a:avLst>
              <a:gd name="adj" fmla="val 1046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7824" y="33741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应用层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852928" y="3410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Spring Boot + Spring Security + JWT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4107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业务逻辑、认证授权、接口提供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66928" y="4069080"/>
            <a:ext cx="11027664" cy="786384"/>
          </a:xfrm>
          <a:prstGeom prst="roundRect">
            <a:avLst>
              <a:gd name="adj" fmla="val 10465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7824" y="42885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数据访问层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852928" y="43251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MyBatis-Plus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607808" y="4325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对象关系映射与数据访问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" y="4983480"/>
            <a:ext cx="11027664" cy="786384"/>
          </a:xfrm>
          <a:prstGeom prst="roundRect">
            <a:avLst>
              <a:gd name="adj" fmla="val 1046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77824" y="5202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数据层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2852928" y="5239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 8.0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607808" y="52395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业务数据持久化存储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594360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前端通过 RESTful API 调用后端；前后端独立开发、独立部署，接口可复用于后续移动端或小程序端。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Spring Boot 的宠物医疗管理系统设计与实现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0680192" y="6364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/tmp/pptbuild/icons/gea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94360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35608" y="429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05 · 技术选型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435608" y="64922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选用主流、成熟、可验证的技术栈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27664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645920"/>
                <a:gridCol w="6181344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层次 / 技术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版本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在系统中的作用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Spring Boot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3.x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后端核心框架，约定优于配置，快速构建独立应用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Spring Security + JWT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6.x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无状态身份认证与基于角色的访问控制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MyBatis-Plus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3.5.x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数据访问层，通用 CRUD 与分页，简化持久层开发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Vue 3 + Element Plus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3.4 / 2.x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前端组件化开发，构建管理端与用户端界面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MySQL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8.0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关系型数据库，规范化表结构存储业务数据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Vite / Maven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5.x / 3.8+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5B63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前端与后端的构建与依赖管理工具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66928" y="5394960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数据字典与外键约束在数据库设计说明书中定义；金额以“分”为单位存储，避免浮点误差。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Spring Boot 的宠物医疗管理系统设计与实现</a:t>
            </a:r>
            <a:endParaRPr lang="en-US" sz="850" dirty="0"/>
          </a:p>
        </p:txBody>
      </p:sp>
      <p:sp>
        <p:nvSpPr>
          <p:cNvPr id="9" name="Text 5"/>
          <p:cNvSpPr txBox="1"/>
          <p:nvPr/>
        </p:nvSpPr>
        <p:spPr>
          <a:xfrm>
            <a:off x="10680192" y="6364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/tmp/pptbuild/icons/shiel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94360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35608" y="429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06 · 可行性分析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435608" y="64922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技术可行、经济可行、操作可行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83080"/>
            <a:ext cx="3529584" cy="4206240"/>
          </a:xfrm>
          <a:prstGeom prst="roundRect">
            <a:avLst>
              <a:gd name="adj" fmla="val 2332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920240" y="2084832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1" descr="/tmp/pptbuild/icons/gear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406" y="2269998"/>
            <a:ext cx="452628" cy="4526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66928" y="3072384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技术可行性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50976" y="36941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170432" y="3694176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技术栈均为业界主流、文档完备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950976" y="43342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170432" y="4334256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本人已掌握 Java / Spring Boot / Vue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950976" y="497433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170432" y="4974336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开发工具与运行环境均可免费获取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334256" y="1783080"/>
            <a:ext cx="3529584" cy="4206240"/>
          </a:xfrm>
          <a:prstGeom prst="roundRect">
            <a:avLst>
              <a:gd name="adj" fmla="val 2332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687568" y="2084832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8" name="Image 2" descr="/tmp/pptbuild/icons/coin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734" y="2269998"/>
            <a:ext cx="452628" cy="45262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334256" y="3072384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经济可行性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718304" y="36941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937760" y="3694176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开发工具与框架全部开源免费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718304" y="43342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4937760" y="4334256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可部署于本地或低成本云主机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718304" y="497433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4937760" y="4974336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投入以人力为主，无额外采购成本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101584" y="1783080"/>
            <a:ext cx="3529584" cy="4206240"/>
          </a:xfrm>
          <a:prstGeom prst="roundRect">
            <a:avLst>
              <a:gd name="adj" fmla="val 2332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454896" y="2084832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8" name="Image 3" descr="/tmp/pptbuild/icons/han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062" y="2269998"/>
            <a:ext cx="452628" cy="45262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101584" y="3072384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操作可行性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8485632" y="36941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8705088" y="3694176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B/S 架构，浏览器即可访问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8485632" y="43342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8705088" y="4334256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界面沿用成熟组件库，学习成本低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8485632" y="497433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8705088" y="4974336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业务流程贴合宠物医院实际作业习惯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Spring Boot 的宠物医疗管理系统设计与实现</a:t>
            </a:r>
            <a:endParaRPr lang="en-US" sz="850" dirty="0"/>
          </a:p>
        </p:txBody>
      </p:sp>
      <p:sp>
        <p:nvSpPr>
          <p:cNvPr id="37" name="Text 31"/>
          <p:cNvSpPr txBox="1"/>
          <p:nvPr/>
        </p:nvSpPr>
        <p:spPr>
          <a:xfrm>
            <a:off x="10680192" y="6364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/tmp/pptbuild/icons/calenda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94360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35608" y="429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06 · 进度安排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435608" y="64922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分阶段推进，每阶段有明确交付物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749808" y="4041648"/>
            <a:ext cx="10661904" cy="41148"/>
          </a:xfrm>
          <a:prstGeom prst="rect">
            <a:avLst/>
          </a:prstGeom>
          <a:solidFill>
            <a:srgbClr val="D6EAE7"/>
          </a:solidFill>
          <a:ln w="12700">
            <a:solidFill>
              <a:srgbClr val="D6EA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755648" y="3785616"/>
            <a:ext cx="27432" cy="1645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6968" y="2798064"/>
            <a:ext cx="1810512" cy="1042416"/>
          </a:xfrm>
          <a:prstGeom prst="roundRect">
            <a:avLst>
              <a:gd name="adj" fmla="val 7895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33272" y="29169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2026.10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033272" y="31638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选题与开题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33272" y="340156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文献调研、撰写并完成开题报告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609344" y="3913632"/>
            <a:ext cx="310896" cy="310896"/>
          </a:xfrm>
          <a:prstGeom prst="ellipse">
            <a:avLst/>
          </a:prstGeom>
          <a:solidFill>
            <a:srgbClr val="02809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609344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95344" y="4169664"/>
            <a:ext cx="27432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26664" y="4443984"/>
            <a:ext cx="1810512" cy="1042416"/>
          </a:xfrm>
          <a:prstGeom prst="roundRect">
            <a:avLst>
              <a:gd name="adj" fmla="val 7895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72968" y="45628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2026.11—12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172968" y="48097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设计与建库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3172968" y="504748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需求分析、系统设计、数据库设计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749040" y="3913632"/>
            <a:ext cx="310896" cy="310896"/>
          </a:xfrm>
          <a:prstGeom prst="ellipse">
            <a:avLst/>
          </a:prstGeom>
          <a:solidFill>
            <a:srgbClr val="02809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74904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35040" y="3785616"/>
            <a:ext cx="27432" cy="1645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166360" y="2798064"/>
            <a:ext cx="1810512" cy="1042416"/>
          </a:xfrm>
          <a:prstGeom prst="roundRect">
            <a:avLst>
              <a:gd name="adj" fmla="val 7895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12664" y="29169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2027.01—02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312664" y="31638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编码与联调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5312664" y="340156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核心模块开发、系统集成联调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888736" y="3913632"/>
            <a:ext cx="310896" cy="310896"/>
          </a:xfrm>
          <a:prstGeom prst="ellipse">
            <a:avLst/>
          </a:prstGeom>
          <a:solidFill>
            <a:srgbClr val="02809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888736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174736" y="4169664"/>
            <a:ext cx="27432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06056" y="4443984"/>
            <a:ext cx="1810512" cy="1042416"/>
          </a:xfrm>
          <a:prstGeom prst="roundRect">
            <a:avLst>
              <a:gd name="adj" fmla="val 7895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52360" y="45628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2027.03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452360" y="48097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测试与论文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7452360" y="504748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系统测试优化、撰写论文初稿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8028432" y="3913632"/>
            <a:ext cx="310896" cy="310896"/>
          </a:xfrm>
          <a:prstGeom prst="ellipse">
            <a:avLst/>
          </a:prstGeom>
          <a:solidFill>
            <a:srgbClr val="02809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28432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0314432" y="3785616"/>
            <a:ext cx="27432" cy="1645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445752" y="2798064"/>
            <a:ext cx="1810512" cy="1042416"/>
          </a:xfrm>
          <a:prstGeom prst="roundRect">
            <a:avLst>
              <a:gd name="adj" fmla="val 7895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592056" y="29169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2027.04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9592056" y="31638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定稿与答辩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9592056" y="340156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论文定稿、制作PPT、毕业答辩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10168128" y="3913632"/>
            <a:ext cx="310896" cy="310896"/>
          </a:xfrm>
          <a:prstGeom prst="ellipse">
            <a:avLst/>
          </a:prstGeom>
          <a:solidFill>
            <a:srgbClr val="02809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0168128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57058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＊ 具体时间以学院下发的时间表为准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Spring Boot 的宠物医疗管理系统设计与实现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10680192" y="6364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38912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/tmp/pptbuild/icons/trophy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94360"/>
            <a:ext cx="347472" cy="3474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35608" y="429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 06 · 预期成果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1435608" y="64922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一套可运行的系统 ＋ 一份规范的论文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10512"/>
            <a:ext cx="5431536" cy="1865376"/>
          </a:xfrm>
          <a:prstGeom prst="roundRect">
            <a:avLst>
              <a:gd name="adj" fmla="val 4412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267712"/>
            <a:ext cx="786384" cy="7863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1" descr="/tmp/pptbuild/icons/cod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36" y="2444648"/>
            <a:ext cx="432511" cy="43251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20240" y="2267712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可运行系统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920240" y="2670048"/>
            <a:ext cx="3785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前后端源码、数据库脚本与部署说明，三角色功能完整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729984" y="1810512"/>
            <a:ext cx="5431536" cy="1865376"/>
          </a:xfrm>
          <a:prstGeom prst="roundRect">
            <a:avLst>
              <a:gd name="adj" fmla="val 4412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077456" y="2267712"/>
            <a:ext cx="786384" cy="7863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2" descr="/tmp/pptbuild/icons/fil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392" y="2444648"/>
            <a:ext cx="432511" cy="43251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83296" y="2267712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毕业论文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8083296" y="2670048"/>
            <a:ext cx="3785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系统阐述研究背景、设计实现、测试结果与总结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66928" y="3986784"/>
            <a:ext cx="5431536" cy="1865376"/>
          </a:xfrm>
          <a:prstGeom prst="roundRect">
            <a:avLst>
              <a:gd name="adj" fmla="val 4412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14400" y="4443984"/>
            <a:ext cx="786384" cy="7863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8" name="Image 3" descr="/tmp/pptbuild/icons/clipboar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336" y="4620920"/>
            <a:ext cx="432511" cy="43251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920240" y="4443984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过程文档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1920240" y="4846320"/>
            <a:ext cx="3785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开题报告、需求分析、系统设计与测试记录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729984" y="3986784"/>
            <a:ext cx="5431536" cy="1865376"/>
          </a:xfrm>
          <a:prstGeom prst="roundRect">
            <a:avLst>
              <a:gd name="adj" fmla="val 4412"/>
            </a:avLst>
          </a:prstGeom>
          <a:solidFill>
            <a:srgbClr val="E8F4F2"/>
          </a:solidFill>
          <a:ln w="12700">
            <a:solidFill>
              <a:srgbClr val="E8F4F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077456" y="4443984"/>
            <a:ext cx="786384" cy="7863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3" name="Image 4" descr="/tmp/pptbuild/icons/rocket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4392" y="4620920"/>
            <a:ext cx="432511" cy="43251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083296" y="4443984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1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答辩材料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8083296" y="4846320"/>
            <a:ext cx="3785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5B6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 PPT 与系统演示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8251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8A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Spring Boot 的宠物医疗管理系统设计与实现</a:t>
            </a:r>
            <a:endParaRPr lang="en-US" sz="850" dirty="0"/>
          </a:p>
        </p:txBody>
      </p:sp>
      <p:sp>
        <p:nvSpPr>
          <p:cNvPr id="27" name="Text 20"/>
          <p:cNvSpPr txBox="1"/>
          <p:nvPr/>
        </p:nvSpPr>
        <p:spPr>
          <a:xfrm>
            <a:off x="10680192" y="6364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41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build/icons/paw-white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-822960" y="3566160"/>
            <a:ext cx="3291840" cy="32918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1371600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4" name="Image 1" descr="/tmp/pptbuild/icons/heart-de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94" y="1556766"/>
            <a:ext cx="452628" cy="45262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66928" y="2432304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恳请各位老师批评指正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401568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40" kern="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Thanks for your attention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66928" y="4279392"/>
            <a:ext cx="5852160" cy="786384"/>
          </a:xfrm>
          <a:prstGeom prst="roundRect">
            <a:avLst>
              <a:gd name="adj" fmla="val 11628"/>
            </a:avLst>
          </a:prstGeom>
          <a:solidFill>
            <a:srgbClr val="0A4C59"/>
          </a:solidFill>
          <a:ln w="12700">
            <a:solidFill>
              <a:srgbClr val="0A4C59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77824" y="44988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AE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汇报人：ES　|　指导教师：（请填写）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10680192" y="6364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基于Spring Boot的宠物医疗管理系统设计与实现 — 开题答辩</dc:title>
  <dc:subject>PptxGenJS Presentation</dc:subject>
  <dc:creator>ES</dc:creator>
  <cp:lastModifiedBy>ES</cp:lastModifiedBy>
  <cp:revision>1</cp:revision>
  <dcterms:created xsi:type="dcterms:W3CDTF">2026-10-05T13:56:54Z</dcterms:created>
  <dcterms:modified xsi:type="dcterms:W3CDTF">2026-10-05T13:56:54Z</dcterms:modified>
</cp:coreProperties>
</file>